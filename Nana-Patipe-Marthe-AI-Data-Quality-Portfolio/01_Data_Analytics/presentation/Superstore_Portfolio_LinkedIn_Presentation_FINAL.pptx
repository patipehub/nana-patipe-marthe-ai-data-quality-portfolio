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Superstore Sales &amp; Profitability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Power BI | Power Query | DAX |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From commercial data to business insights</a:t>
            </a:r>
          </a:p>
          <a:p>
            <a:pPr algn="ctr">
              <a:defRPr sz="2000"/>
            </a:pPr>
            <a:r>
              <a:t>Interactive Power BI portfolio project</a:t>
            </a:r>
          </a:p>
          <a:p>
            <a:pPr algn="ctr">
              <a:defRPr sz="1700"/>
            </a:pPr>
            <a:r>
              <a:t>2.33M$ Sales  |  292.30K$ Profit  |  5,111 Orders  |  12.56% Profit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Business Problem</a:t>
            </a:r>
          </a:p>
          <a:p>
            <a:pPr>
              <a:defRPr sz="1600" b="0"/>
            </a:pPr>
            <a:r>
              <a:t>How can sales and profitability drivers be identified, underperforming products and regions detected, and data-driven recommendations formulated?</a:t>
            </a:r>
          </a:p>
          <a:p>
            <a:pPr>
              <a:defRPr sz="2200" b="1"/>
            </a:pPr>
            <a:r>
              <a:t>Objectives</a:t>
            </a:r>
          </a:p>
          <a:p>
            <a:pPr>
              <a:defRPr sz="1500" b="0"/>
            </a:pPr>
            <a:r>
              <a:t>• Evaluate overall sales and profit performance</a:t>
            </a:r>
          </a:p>
          <a:p>
            <a:pPr>
              <a:defRPr sz="1500" b="0"/>
            </a:pPr>
            <a:r>
              <a:t>• Identify profitable and loss-making products</a:t>
            </a:r>
          </a:p>
          <a:p>
            <a:pPr>
              <a:defRPr sz="1500" b="0"/>
            </a:pPr>
            <a:r>
              <a:t>• Compare regions, categories and customer segments</a:t>
            </a:r>
          </a:p>
          <a:p>
            <a:pPr>
              <a:defRPr sz="1500" b="0"/>
            </a:pPr>
            <a:r>
              <a:t>• Assess discounts and their association with profitability</a:t>
            </a:r>
          </a:p>
          <a:p>
            <a:pPr>
              <a:defRPr sz="1500" b="0"/>
            </a:pPr>
            <a:r>
              <a:t>• Translate findings into actionable recommendations</a:t>
            </a:r>
          </a:p>
          <a:p>
            <a:pPr>
              <a:defRPr sz="1700" b="1"/>
            </a:pPr>
            <a:r>
              <a:t>Tools: Power BI • Power Query • DAX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01 —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Overall commercial performance</a:t>
            </a:r>
          </a:p>
        </p:txBody>
      </p:sp>
      <p:pic>
        <p:nvPicPr>
          <p:cNvPr id="4" name="Picture 3" descr="01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251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02 —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Sales trends, regions and categories</a:t>
            </a:r>
          </a:p>
        </p:txBody>
      </p:sp>
      <p:pic>
        <p:nvPicPr>
          <p:cNvPr id="4" name="Picture 3" descr="02_Sale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04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03 — 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Product profitability, risks and sales/profit relationship</a:t>
            </a:r>
          </a:p>
        </p:txBody>
      </p:sp>
      <p:pic>
        <p:nvPicPr>
          <p:cNvPr id="4" name="Picture 3" descr="8b3764e5-ea54-4f6e-a37b-c633b14a0b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01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04 — Profit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Profitability by category, segment and region</a:t>
            </a:r>
          </a:p>
        </p:txBody>
      </p:sp>
      <p:pic>
        <p:nvPicPr>
          <p:cNvPr id="4" name="Picture 3" descr="82eb18f0-62a8-4fd6-81d7-3b8b6e5922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294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05 —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Key findings, strategic recommendations and conclusion</a:t>
            </a:r>
          </a:p>
        </p:txBody>
      </p:sp>
      <p:pic>
        <p:nvPicPr>
          <p:cNvPr id="4" name="Picture 3" descr="BUSINESS_INSIGHTH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83112" cy="6329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Key Takeaways &amp; Professional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/>
            </a:pPr>
            <a:r>
              <a:t>Key Takeaways</a:t>
            </a:r>
          </a:p>
          <a:p>
            <a:pPr>
              <a:defRPr sz="1600" b="0"/>
            </a:pPr>
            <a:r>
              <a:t>• Technology is a major profitability driver.</a:t>
            </a:r>
          </a:p>
          <a:p>
            <a:pPr>
              <a:defRPr sz="1600" b="0"/>
            </a:pPr>
            <a:r>
              <a:t>• High discounts are associated with several strongly negative margins.</a:t>
            </a:r>
          </a:p>
          <a:p>
            <a:pPr>
              <a:defRPr sz="1600" b="0"/>
            </a:pPr>
            <a:r>
              <a:t>• Furniture requires attention despite meaningful sales volume.</a:t>
            </a:r>
          </a:p>
          <a:p>
            <a:pPr>
              <a:defRPr sz="1600" b="0"/>
            </a:pPr>
            <a:r>
              <a:t>• West is among the strongest-performing regions; Central requires investigation.</a:t>
            </a:r>
          </a:p>
          <a:p>
            <a:pPr>
              <a:defRPr sz="1600" b="0"/>
            </a:pPr>
            <a:r>
              <a:t>• Consumer is the leading profit-contributing segment.</a:t>
            </a:r>
          </a:p>
          <a:p>
            <a:pPr>
              <a:defRPr sz="800" b="0"/>
            </a:pPr>
          </a:p>
          <a:p>
            <a:pPr>
              <a:defRPr sz="2300" b="1"/>
            </a:pPr>
            <a:r>
              <a:t>Strategic focus</a:t>
            </a:r>
          </a:p>
          <a:p>
            <a:pPr>
              <a:defRPr sz="1600" b="0"/>
            </a:pPr>
            <a:r>
              <a:t>• Review discount thresholds and minimum margin levels.</a:t>
            </a:r>
          </a:p>
          <a:p>
            <a:pPr>
              <a:defRPr sz="1600" b="0"/>
            </a:pPr>
            <a:r>
              <a:t>• Audit loss-making products and investigate regional performance gaps.</a:t>
            </a:r>
          </a:p>
          <a:p>
            <a:pPr>
              <a:defRPr sz="1600" b="0"/>
            </a:pPr>
            <a:r>
              <a:t>• Scale successful Technology and Consumer activities through targeted cross-selling.</a:t>
            </a:r>
          </a:p>
          <a:p>
            <a:pPr>
              <a:defRPr sz="800" b="0"/>
            </a:pPr>
          </a:p>
          <a:p>
            <a:pPr>
              <a:defRPr sz="1800" b="1"/>
            </a:pPr>
            <a:r>
              <a:t>Data Analyst | Excel &amp;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
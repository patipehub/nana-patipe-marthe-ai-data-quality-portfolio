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Superstore Sales &amp; Profitability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Power BI | Power Query | DAX |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From commercial data to business insights</a:t>
            </a:r>
          </a:p>
          <a:p>
            <a:pPr algn="ctr">
              <a:defRPr sz="2000"/>
            </a:pPr>
            <a:r>
              <a:t>Interactive Power BI portfolio project</a:t>
            </a:r>
          </a:p>
          <a:p>
            <a:pPr algn="ctr">
              <a:defRPr sz="1700"/>
            </a:pPr>
            <a:r>
              <a:t>2.33M$ Sales  |  292.30K$ Profit  |  5,111 Orders  |  12.56% Profit Margin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Business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Business Problem</a:t>
            </a:r>
          </a:p>
          <a:p>
            <a:pPr>
              <a:defRPr sz="1600" b="0"/>
            </a:pPr>
            <a:r>
              <a:t>How can sales and profitability drivers be identified, underperforming products and regions detected, and data-driven recommendations formulated?</a:t>
            </a:r>
          </a:p>
          <a:p>
            <a:pPr>
              <a:defRPr sz="2200" b="1"/>
            </a:pPr>
            <a:r>
              <a:t>Objectives</a:t>
            </a:r>
          </a:p>
          <a:p>
            <a:pPr>
              <a:defRPr sz="1500" b="0"/>
            </a:pPr>
            <a:r>
              <a:t>• Evaluate overall sales and profit performance</a:t>
            </a:r>
          </a:p>
          <a:p>
            <a:pPr>
              <a:defRPr sz="1500" b="0"/>
            </a:pPr>
            <a:r>
              <a:t>• Identify profitable and loss-making products</a:t>
            </a:r>
          </a:p>
          <a:p>
            <a:pPr>
              <a:defRPr sz="1500" b="0"/>
            </a:pPr>
            <a:r>
              <a:t>• Compare regions, categories and customer segments</a:t>
            </a:r>
          </a:p>
          <a:p>
            <a:pPr>
              <a:defRPr sz="1500" b="0"/>
            </a:pPr>
            <a:r>
              <a:t>• Assess discounts and their association with profitability</a:t>
            </a:r>
          </a:p>
          <a:p>
            <a:pPr>
              <a:defRPr sz="1500" b="0"/>
            </a:pPr>
            <a:r>
              <a:t>• Translate findings into actionable recommendations</a:t>
            </a:r>
          </a:p>
          <a:p>
            <a:pPr>
              <a:defRPr sz="1700" b="1"/>
            </a:pPr>
            <a:r>
              <a:t>Tools: Power BI • Power Query • DAX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01 — 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Overall commercial performance</a:t>
            </a:r>
          </a:p>
        </p:txBody>
      </p:sp>
      <p:pic>
        <p:nvPicPr>
          <p:cNvPr id="4" name="Picture 3" descr="01_Execut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2510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02 —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Sales trends, regions and categories</a:t>
            </a:r>
          </a:p>
        </p:txBody>
      </p:sp>
      <p:pic>
        <p:nvPicPr>
          <p:cNvPr id="4" name="Picture 3" descr="02_Sale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3048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03 — Product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Product profitability, risks and sales/profit relationship</a:t>
            </a:r>
          </a:p>
        </p:txBody>
      </p:sp>
      <p:pic>
        <p:nvPicPr>
          <p:cNvPr id="4" name="Picture 3" descr="8b3764e5-ea54-4f6e-a37b-c633b14a0b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301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04 — Profit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Profitability by category, segment and region</a:t>
            </a:r>
          </a:p>
        </p:txBody>
      </p:sp>
      <p:pic>
        <p:nvPicPr>
          <p:cNvPr id="4" name="Picture 3" descr="82eb18f0-62a8-4fd6-81d7-3b8b6e5922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2948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05 —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Key findings, strategic recommendations and conclusion</a:t>
            </a:r>
          </a:p>
        </p:txBody>
      </p:sp>
      <p:pic>
        <p:nvPicPr>
          <p:cNvPr id="4" name="Picture 3" descr="BUSINESS_INSIGHTH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329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Key Takeaways &amp; Professional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Key Takeaways</a:t>
            </a:r>
          </a:p>
          <a:p>
            <a:pPr>
              <a:defRPr sz="1600" b="0"/>
            </a:pPr>
            <a:r>
              <a:t>• Technology is a major profitability driver.</a:t>
            </a:r>
          </a:p>
          <a:p>
            <a:pPr>
              <a:defRPr sz="1600" b="0"/>
            </a:pPr>
            <a:r>
              <a:t>• High discounts are associated with several strongly negative margins.</a:t>
            </a:r>
          </a:p>
          <a:p>
            <a:pPr>
              <a:defRPr sz="1600" b="0"/>
            </a:pPr>
            <a:r>
              <a:t>• Furniture requires attention despite meaningful sales volume.</a:t>
            </a:r>
          </a:p>
          <a:p>
            <a:pPr>
              <a:defRPr sz="1600" b="0"/>
            </a:pPr>
            <a:r>
              <a:t>• West is among the strongest-performing regions; Central requires investigation.</a:t>
            </a:r>
          </a:p>
          <a:p>
            <a:pPr>
              <a:defRPr sz="1600" b="0"/>
            </a:pPr>
            <a:r>
              <a:t>• Consumer is the leading profit-contributing segment.</a:t>
            </a:r>
          </a:p>
          <a:p>
            <a:pPr>
              <a:defRPr sz="800" b="0"/>
            </a:pPr>
          </a:p>
          <a:p>
            <a:pPr>
              <a:defRPr sz="2300" b="1"/>
            </a:pPr>
            <a:r>
              <a:t>Strategic focus</a:t>
            </a:r>
          </a:p>
          <a:p>
            <a:pPr>
              <a:defRPr sz="1600" b="0"/>
            </a:pPr>
            <a:r>
              <a:t>• Review discount thresholds and minimum margin levels.</a:t>
            </a:r>
          </a:p>
          <a:p>
            <a:pPr>
              <a:defRPr sz="1600" b="0"/>
            </a:pPr>
            <a:r>
              <a:t>• Audit loss-making products and investigate regional performance gaps.</a:t>
            </a:r>
          </a:p>
          <a:p>
            <a:pPr>
              <a:defRPr sz="1600" b="0"/>
            </a:pPr>
            <a:r>
              <a:t>• Scale successful Technology and Consumer activities through targeted cross-selling.</a:t>
            </a:r>
          </a:p>
          <a:p>
            <a:pPr>
              <a:defRPr sz="800" b="0"/>
            </a:pPr>
          </a:p>
          <a:p>
            <a:pPr>
              <a:defRPr sz="1800" b="1"/>
            </a:pPr>
            <a:r>
              <a:t>Data Analyst | Excel &amp;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72536"/>
                </a:solidFill>
                <a:latin typeface="Aptos Display"/>
              </a:rPr>
              <a:t>06 — AI Data Annotation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973"/>
                </a:solidFill>
                <a:latin typeface="Aptos"/>
              </a:rPr>
              <a:t>Practical independent project • French-language data quality • Evidence-based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234440"/>
          </a:xfrm>
          <a:prstGeom prst="round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3327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From raw audio and AI outputs → structured annotations → quality-controlled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3429000" cy="2057400"/>
          </a:xfrm>
          <a:prstGeom prst="roundRect">
            <a:avLst/>
          </a:prstGeom>
          <a:solidFill>
            <a:srgbClr val="F2F6F8"/>
          </a:solidFill>
          <a:ln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971800"/>
            <a:ext cx="73152" cy="20574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11810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36"/>
                </a:solidFill>
                <a:latin typeface="Aptos"/>
              </a:rPr>
              <a:t>Audio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538728"/>
            <a:ext cx="3044952" cy="1344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1E262D"/>
                </a:solidFill>
                <a:latin typeface="Aptos"/>
              </a:rPr>
              <a:t>7 French audio samples reviewed across naturalness, fluency, pronunciation, articulation, tone and audio quality.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71800"/>
            <a:ext cx="3429000" cy="2057400"/>
          </a:xfrm>
          <a:prstGeom prst="roundRect">
            <a:avLst/>
          </a:prstGeom>
          <a:solidFill>
            <a:srgbClr val="F2F6F8"/>
          </a:solidFill>
          <a:ln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971800"/>
            <a:ext cx="73152" cy="20574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11810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36"/>
                </a:solidFill>
                <a:latin typeface="Aptos"/>
              </a:rPr>
              <a:t>Transcription &amp; diarization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38728"/>
            <a:ext cx="3044952" cy="1344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1E262D"/>
                </a:solidFill>
                <a:latin typeface="Aptos"/>
              </a:rPr>
              <a:t>7 timestamped speaker segments documented, including speaker identification, interruption and overlap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971800"/>
            <a:ext cx="3429000" cy="2057400"/>
          </a:xfrm>
          <a:prstGeom prst="roundRect">
            <a:avLst/>
          </a:prstGeom>
          <a:solidFill>
            <a:srgbClr val="F2F6F8"/>
          </a:solidFill>
          <a:ln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971800"/>
            <a:ext cx="73152" cy="205740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311810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36"/>
                </a:solidFill>
                <a:latin typeface="Aptos"/>
              </a:rPr>
              <a:t>QA &amp; issue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3538728"/>
            <a:ext cx="3044952" cy="1344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1E262D"/>
                </a:solidFill>
                <a:latin typeface="Aptos"/>
              </a:rPr>
              <a:t>12 observable issues classified by type and severity, with objective QA comments and traceable timestamps where applicable.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5C6973"/>
                </a:solidFill>
                <a:latin typeface="Aptos"/>
              </a:rPr>
              <a:t>Portfolio status: practice-based independent project — not presented as paid professional employment.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72536"/>
                </a:solidFill>
                <a:latin typeface="Aptos Display"/>
              </a:rPr>
              <a:t>AI Data Annotation — Workflow &amp; Quality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973"/>
                </a:solidFill>
                <a:latin typeface="Aptos"/>
              </a:rPr>
              <a:t>A structured annotation process designed for consistency, accuracy and guideline compliance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417320"/>
            <a:ext cx="566928" cy="566928"/>
          </a:xfrm>
          <a:prstGeom prst="ellipse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1288" y="1673352"/>
            <a:ext cx="1719072" cy="32004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536"/>
                </a:solidFill>
                <a:latin typeface="Aptos"/>
              </a:rPr>
              <a:t>Review source</a:t>
            </a:r>
          </a:p>
          <a:p>
            <a:r>
              <a:rPr sz="950">
                <a:solidFill>
                  <a:srgbClr val="1E262D"/>
                </a:solidFill>
                <a:latin typeface="Aptos"/>
              </a:rPr>
              <a:t>Understand the audio/text, prompt and project instructions.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1417320"/>
            <a:ext cx="566928" cy="566928"/>
          </a:xfrm>
          <a:prstGeom prst="ellipse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527048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1673352"/>
            <a:ext cx="1719072" cy="32004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031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536"/>
                </a:solidFill>
                <a:latin typeface="Aptos"/>
              </a:rPr>
              <a:t>Annotate</a:t>
            </a:r>
          </a:p>
          <a:p>
            <a:r>
              <a:rPr sz="950">
                <a:solidFill>
                  <a:srgbClr val="1E262D"/>
                </a:solidFill>
                <a:latin typeface="Aptos"/>
              </a:rPr>
              <a:t>Transcribe, timestamp, identify speakers and apply the required labels.</a:t>
            </a:r>
          </a:p>
        </p:txBody>
      </p:sp>
      <p:sp>
        <p:nvSpPr>
          <p:cNvPr id="13" name="Oval 12"/>
          <p:cNvSpPr/>
          <p:nvPr/>
        </p:nvSpPr>
        <p:spPr>
          <a:xfrm>
            <a:off x="5166360" y="1417320"/>
            <a:ext cx="566928" cy="566928"/>
          </a:xfrm>
          <a:prstGeom prst="ellipse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527048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33288" y="1673352"/>
            <a:ext cx="1719072" cy="32004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031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536"/>
                </a:solidFill>
                <a:latin typeface="Aptos"/>
              </a:rPr>
              <a:t>Inspect</a:t>
            </a:r>
          </a:p>
          <a:p>
            <a:r>
              <a:rPr sz="950">
                <a:solidFill>
                  <a:srgbClr val="1E262D"/>
                </a:solidFill>
                <a:latin typeface="Aptos"/>
              </a:rPr>
              <a:t>Check fluency, intelligibility, overlaps, interruptions and audio issues.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1417320"/>
            <a:ext cx="566928" cy="566928"/>
          </a:xfrm>
          <a:prstGeom prst="ellipse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527048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1673352"/>
            <a:ext cx="1719072" cy="32004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1031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536"/>
                </a:solidFill>
                <a:latin typeface="Aptos"/>
              </a:rPr>
              <a:t>Classify</a:t>
            </a:r>
          </a:p>
          <a:p>
            <a:r>
              <a:rPr sz="950">
                <a:solidFill>
                  <a:srgbClr val="1E262D"/>
                </a:solidFill>
                <a:latin typeface="Aptos"/>
              </a:rPr>
              <a:t>Record observable issues, severity and supporting evidence.</a:t>
            </a:r>
          </a:p>
        </p:txBody>
      </p:sp>
      <p:sp>
        <p:nvSpPr>
          <p:cNvPr id="21" name="Oval 20"/>
          <p:cNvSpPr/>
          <p:nvPr/>
        </p:nvSpPr>
        <p:spPr>
          <a:xfrm>
            <a:off x="9738360" y="1417320"/>
            <a:ext cx="566928" cy="566928"/>
          </a:xfrm>
          <a:prstGeom prst="ellipse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527048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031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536"/>
                </a:solidFill>
                <a:latin typeface="Aptos"/>
              </a:rPr>
              <a:t>Validate</a:t>
            </a:r>
          </a:p>
          <a:p>
            <a:r>
              <a:rPr sz="950">
                <a:solidFill>
                  <a:srgbClr val="1E262D"/>
                </a:solidFill>
                <a:latin typeface="Aptos"/>
              </a:rPr>
              <a:t>Apply the rubric consistently and flag ambiguity rather than guessing.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57600"/>
            <a:ext cx="516636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803904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36"/>
                </a:solidFill>
                <a:latin typeface="Aptos"/>
              </a:rPr>
              <a:t>Annotation principles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224528"/>
            <a:ext cx="4782312" cy="7955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1E262D"/>
                </a:solidFill>
                <a:latin typeface="Aptos"/>
              </a:rPr>
              <a:t>Preserve hesitations and repetitions when faithful transcription is required; distinguish overlap/interruption from pronunciation errors; record the exact overlap interval when available.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657600"/>
            <a:ext cx="516636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3657600"/>
            <a:ext cx="73152" cy="1508760"/>
          </a:xfrm>
          <a:prstGeom prst="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3803904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2536"/>
                </a:solidFill>
                <a:latin typeface="Aptos"/>
              </a:rPr>
              <a:t>QA mindset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224528"/>
            <a:ext cx="4782312" cy="7955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1E262D"/>
                </a:solidFill>
                <a:latin typeface="Aptos"/>
              </a:rPr>
              <a:t>Describe observable issues objectively, apply the same criteria across samples, document evidence, and avoid unsupported assumptions.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72536"/>
                </a:solidFill>
                <a:latin typeface="Aptos Display"/>
              </a:rPr>
              <a:t>AI Output Evaluation — Quality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973"/>
                </a:solidFill>
                <a:latin typeface="Aptos"/>
              </a:rPr>
              <a:t>Extending annotation skills into structured evaluation of AI-generated responses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743200" cy="566928"/>
          </a:xfrm>
          <a:prstGeom prst="round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Instruction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37160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62D"/>
                </a:solidFill>
                <a:latin typeface="Aptos"/>
              </a:rPr>
              <a:t>Did the output follow the prompt and constraints?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30552"/>
            <a:ext cx="2743200" cy="566928"/>
          </a:xfrm>
          <a:prstGeom prst="round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7627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62D"/>
                </a:solidFill>
                <a:latin typeface="Aptos"/>
              </a:rPr>
              <a:t>Are the factual or task-specific claims correct?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35224"/>
            <a:ext cx="2743200" cy="566928"/>
          </a:xfrm>
          <a:prstGeom prst="round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5409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80944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62D"/>
                </a:solidFill>
                <a:latin typeface="Aptos"/>
              </a:rPr>
              <a:t>Does the answer directly address the requested task?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39896"/>
            <a:ext cx="2743200" cy="566928"/>
          </a:xfrm>
          <a:prstGeom prst="round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5876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French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85615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62D"/>
                </a:solidFill>
                <a:latin typeface="Aptos"/>
              </a:rPr>
              <a:t>Is the French clear, natural and appropriate?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44568"/>
            <a:ext cx="2743200" cy="566928"/>
          </a:xfrm>
          <a:prstGeom prst="round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Hallucination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59028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62D"/>
                </a:solidFill>
                <a:latin typeface="Aptos"/>
              </a:rPr>
              <a:t>Does the output introduce unsupported information?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10424160" cy="640080"/>
          </a:xfrm>
          <a:prstGeom prst="roundRect">
            <a:avLst/>
          </a:prstGeom>
          <a:solidFill>
            <a:srgbClr val="F2F6F8"/>
          </a:solidFill>
          <a:ln>
            <a:solidFill>
              <a:srgbClr val="DC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50992"/>
            <a:ext cx="9966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007A7A"/>
                </a:solidFill>
                <a:latin typeface="Aptos"/>
              </a:rPr>
              <a:t>Professional positioning: AI Data Annotation • Data Quality • QA • French Language Evaluation • Information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